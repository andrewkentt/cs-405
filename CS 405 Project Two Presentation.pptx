
<file path=[Content_Types].xml><?xml version="1.0" encoding="utf-8"?>
<Types xmlns="http://schemas.openxmlformats.org/package/2006/content-types">
  <Default Extension="fntdata" ContentType="application/x-fontdata"/>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64" r:id="rId17"/>
    <p:sldId id="265" r:id="rId18"/>
    <p:sldId id="266" r:id="rId19"/>
    <p:sldId id="267" r:id="rId20"/>
    <p:sldId id="268" r:id="rId21"/>
    <p:sldId id="269" r:id="rId22"/>
  </p:sldIdLst>
  <p:sldSz cx="12192000" cy="6858000"/>
  <p:notesSz cx="6858000" cy="9144000"/>
  <p:embeddedFontLst>
    <p:embeddedFont>
      <p:font typeface="Century Gothic" panose="020B0502020202020204" pitchFamily="34" charset="0"/>
      <p:regular r:id="rId24"/>
      <p:bold r:id="rId25"/>
      <p:italic r:id="rId26"/>
      <p:boldItalic r:id="rId27"/>
    </p:embeddedFont>
  </p:embeddedFontLst>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3" d="100"/>
          <a:sy n="53" d="100"/>
        </p:scale>
        <p:origin x="68" y="1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E5ACF8B6-2BBE-4A50-C4E7-E590A302A1D1}"/>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3BC486FA-0E7B-1E28-CFAF-8A2CE75C4E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6A01EC84-5BF6-4AD2-6B29-1A8A1BEFDE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98583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0B96658E-D9B1-F022-2345-5520A32E1C79}"/>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2203897F-90ED-6C72-A9F3-9363BC2042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09633C44-76A7-CD64-9F36-C42E75CE37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41329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51AB96AA-3A1A-936B-9FBF-5BB560E849EE}"/>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5CF143B7-7AF9-18B4-C3EA-EEACB2BD17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FD192444-1CD7-1AEF-3325-330CBD3695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451959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7F9C2FBA-BB2F-2BD0-5480-B97537BF9776}"/>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101FF715-3D9B-42EA-653D-49FC78CF36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3E72BF3B-4AF9-51C5-4D3D-D3C4C578131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53998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4.png"/><Relationship Id="rId2" Type="http://schemas.microsoft.com/office/2007/relationships/media" Target="../media/media1.m4a"/><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2.m4a"/><Relationship Id="rId7" Type="http://schemas.openxmlformats.org/officeDocument/2006/relationships/image" Target="../media/image3.png"/><Relationship Id="rId2" Type="http://schemas.microsoft.com/office/2007/relationships/media" Target="../media/media2.m4a"/><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7" Type="http://schemas.openxmlformats.org/officeDocument/2006/relationships/image" Target="../media/image4.png"/><Relationship Id="rId2" Type="http://schemas.microsoft.com/office/2007/relationships/media" Target="../media/media3.m4a"/><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7" Type="http://schemas.openxmlformats.org/officeDocument/2006/relationships/image" Target="../media/image4.png"/><Relationship Id="rId2" Type="http://schemas.microsoft.com/office/2007/relationships/media" Target="../media/media4.m4a"/><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7" Type="http://schemas.openxmlformats.org/officeDocument/2006/relationships/image" Target="../media/image4.png"/><Relationship Id="rId2" Type="http://schemas.microsoft.com/office/2007/relationships/media" Target="../media/media5.m4a"/><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4.png"/><Relationship Id="rId2" Type="http://schemas.microsoft.com/office/2007/relationships/media" Target="../media/media6.m4a"/><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media7.m4a"/><Relationship Id="rId7" Type="http://schemas.openxmlformats.org/officeDocument/2006/relationships/image" Target="../media/image4.png"/><Relationship Id="rId2" Type="http://schemas.microsoft.com/office/2007/relationships/media" Target="../media/media7.m4a"/><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8.m4a"/><Relationship Id="rId7" Type="http://schemas.openxmlformats.org/officeDocument/2006/relationships/image" Target="../media/image6.png"/><Relationship Id="rId2" Type="http://schemas.microsoft.com/office/2007/relationships/media" Target="../media/media8.m4a"/><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9.m4a"/><Relationship Id="rId7" Type="http://schemas.openxmlformats.org/officeDocument/2006/relationships/image" Target="../media/image7.png"/><Relationship Id="rId2" Type="http://schemas.microsoft.com/office/2007/relationships/media" Target="../media/media9.m4a"/><Relationship Id="rId1" Type="http://schemas.openxmlformats.org/officeDocument/2006/relationships/tags" Target="../tags/tag10.xml"/><Relationship Id="rId6" Type="http://schemas.openxmlformats.org/officeDocument/2006/relationships/image" Target="../media/image3.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0.m4a"/><Relationship Id="rId7" Type="http://schemas.openxmlformats.org/officeDocument/2006/relationships/image" Target="../media/image8.png"/><Relationship Id="rId2" Type="http://schemas.microsoft.com/office/2007/relationships/media" Target="../media/media10.m4a"/><Relationship Id="rId1" Type="http://schemas.openxmlformats.org/officeDocument/2006/relationships/tags" Target="../tags/tag11.xml"/><Relationship Id="rId6" Type="http://schemas.openxmlformats.org/officeDocument/2006/relationships/image" Target="../media/image3.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1.m4a"/><Relationship Id="rId7" Type="http://schemas.openxmlformats.org/officeDocument/2006/relationships/image" Target="../media/image9.png"/><Relationship Id="rId2" Type="http://schemas.microsoft.com/office/2007/relationships/media" Target="../media/media11.m4a"/><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2.m4a"/><Relationship Id="rId7" Type="http://schemas.openxmlformats.org/officeDocument/2006/relationships/image" Target="../media/image10.png"/><Relationship Id="rId2" Type="http://schemas.microsoft.com/office/2007/relationships/media" Target="../media/media12.m4a"/><Relationship Id="rId1" Type="http://schemas.openxmlformats.org/officeDocument/2006/relationships/tags" Target="../tags/tag13.xml"/><Relationship Id="rId6" Type="http://schemas.openxmlformats.org/officeDocument/2006/relationships/image" Target="../media/image3.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3.m4a"/><Relationship Id="rId7" Type="http://schemas.openxmlformats.org/officeDocument/2006/relationships/image" Target="../media/image3.png"/><Relationship Id="rId2" Type="http://schemas.microsoft.com/office/2007/relationships/media" Target="../media/media13.m4a"/><Relationship Id="rId1" Type="http://schemas.openxmlformats.org/officeDocument/2006/relationships/tags" Target="../tags/tag14.xml"/><Relationship Id="rId6" Type="http://schemas.openxmlformats.org/officeDocument/2006/relationships/image" Target="../media/image11.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audio" Target="../media/media14.m4a"/><Relationship Id="rId7" Type="http://schemas.openxmlformats.org/officeDocument/2006/relationships/image" Target="../media/image4.png"/><Relationship Id="rId2" Type="http://schemas.microsoft.com/office/2007/relationships/media" Target="../media/media14.m4a"/><Relationship Id="rId1" Type="http://schemas.openxmlformats.org/officeDocument/2006/relationships/tags" Target="../tags/tag15.xml"/><Relationship Id="rId6" Type="http://schemas.openxmlformats.org/officeDocument/2006/relationships/image" Target="../media/image3.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audio" Target="../media/media15.m4a"/><Relationship Id="rId7" Type="http://schemas.openxmlformats.org/officeDocument/2006/relationships/image" Target="../media/image4.png"/><Relationship Id="rId2" Type="http://schemas.microsoft.com/office/2007/relationships/media" Target="../media/media15.m4a"/><Relationship Id="rId1" Type="http://schemas.openxmlformats.org/officeDocument/2006/relationships/tags" Target="../tags/tag16.xml"/><Relationship Id="rId6" Type="http://schemas.openxmlformats.org/officeDocument/2006/relationships/image" Target="../media/image3.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media16.m4a"/><Relationship Id="rId7" Type="http://schemas.openxmlformats.org/officeDocument/2006/relationships/image" Target="../media/image4.png"/><Relationship Id="rId2" Type="http://schemas.microsoft.com/office/2007/relationships/media" Target="../media/media16.m4a"/><Relationship Id="rId1" Type="http://schemas.openxmlformats.org/officeDocument/2006/relationships/tags" Target="../tags/tag17.xml"/><Relationship Id="rId6" Type="http://schemas.openxmlformats.org/officeDocument/2006/relationships/image" Target="../media/image3.png"/><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audio" Target="../media/media17.m4a"/><Relationship Id="rId7" Type="http://schemas.openxmlformats.org/officeDocument/2006/relationships/image" Target="../media/image4.png"/><Relationship Id="rId2" Type="http://schemas.microsoft.com/office/2007/relationships/media" Target="../media/media17.m4a"/><Relationship Id="rId1" Type="http://schemas.openxmlformats.org/officeDocument/2006/relationships/tags" Target="../tags/tag18.xml"/><Relationship Id="rId6" Type="http://schemas.openxmlformats.org/officeDocument/2006/relationships/image" Target="../media/image3.png"/><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techcrunch.com/2023/12/04/23andme-confirms-hackers-stole-ancestry-data-on-6-9-million-users/" TargetMode="External"/><Relationship Id="rId3" Type="http://schemas.openxmlformats.org/officeDocument/2006/relationships/audio" Target="../media/media18.m4a"/><Relationship Id="rId7" Type="http://schemas.openxmlformats.org/officeDocument/2006/relationships/hyperlink" Target="https://cmu-sei.github.io/secure-coding-standards/sei-cert-cpp-coding-standard/" TargetMode="External"/><Relationship Id="rId2" Type="http://schemas.microsoft.com/office/2007/relationships/media" Target="../media/media18.m4a"/><Relationship Id="rId1" Type="http://schemas.openxmlformats.org/officeDocument/2006/relationships/tags" Target="../tags/tag19.xml"/><Relationship Id="rId6" Type="http://schemas.openxmlformats.org/officeDocument/2006/relationships/hyperlink" Target="https://cmu-sei.github.io/secure-coding-standards/sei-cert-c-coding-standard/" TargetMode="External"/><Relationship Id="rId11" Type="http://schemas.openxmlformats.org/officeDocument/2006/relationships/image" Target="../media/image4.png"/><Relationship Id="rId5" Type="http://schemas.openxmlformats.org/officeDocument/2006/relationships/notesSlide" Target="../notesSlides/notesSlide18.xml"/><Relationship Id="rId10" Type="http://schemas.openxmlformats.org/officeDocument/2006/relationships/image" Target="../media/image3.png"/><Relationship Id="rId4" Type="http://schemas.openxmlformats.org/officeDocument/2006/relationships/slideLayout" Target="../slideLayouts/slideLayout2.xml"/><Relationship Id="rId9" Type="http://schemas.openxmlformats.org/officeDocument/2006/relationships/hyperlink" Target="https://techcrunch.com/2023/12/01/23andme-says-hackers-accessed-significant-number-of-files-about-users-ancest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Andrew Fisher</a:t>
            </a:r>
            <a:endParaRPr dirty="0"/>
          </a:p>
          <a:p>
            <a:pPr marL="0" lvl="0" indent="0" algn="l" rtl="0">
              <a:lnSpc>
                <a:spcPct val="70000"/>
              </a:lnSpc>
              <a:spcBef>
                <a:spcPts val="1000"/>
              </a:spcBef>
              <a:spcAft>
                <a:spcPts val="0"/>
              </a:spcAft>
              <a:buClr>
                <a:schemeClr val="lt1"/>
              </a:buClr>
              <a:buSzPts val="1850"/>
              <a:buNone/>
            </a:pPr>
            <a:endParaRPr sz="1850" i="1" dirty="0"/>
          </a:p>
          <a:p>
            <a:pPr marL="0" lvl="0" indent="0" algn="l" rtl="0">
              <a:lnSpc>
                <a:spcPct val="70000"/>
              </a:lnSpc>
              <a:spcBef>
                <a:spcPts val="1000"/>
              </a:spcBef>
              <a:spcAft>
                <a:spcPts val="0"/>
              </a:spcAft>
              <a:buSzPts val="1850"/>
              <a:buNone/>
            </a:pPr>
            <a:endParaRPr i="1" dirty="0"/>
          </a:p>
        </p:txBody>
      </p:sp>
      <p:pic>
        <p:nvPicPr>
          <p:cNvPr id="146" name="Google Shape;146;p1" descr="Green Pace logo"/>
          <p:cNvPicPr preferRelativeResize="0"/>
          <p:nvPr/>
        </p:nvPicPr>
        <p:blipFill>
          <a:blip r:embed="rId6">
            <a:alphaModFix/>
          </a:blip>
          <a:stretch>
            <a:fillRect/>
          </a:stretch>
        </p:blipFill>
        <p:spPr>
          <a:xfrm>
            <a:off x="7440774" y="659854"/>
            <a:ext cx="2921424" cy="3786772"/>
          </a:xfrm>
          <a:prstGeom prst="rect">
            <a:avLst/>
          </a:prstGeom>
          <a:noFill/>
          <a:ln>
            <a:noFill/>
          </a:ln>
        </p:spPr>
      </p:pic>
      <p:pic>
        <p:nvPicPr>
          <p:cNvPr id="2" name="SlideOne">
            <a:hlinkClick r:id="" action="ppaction://media"/>
            <a:extLst>
              <a:ext uri="{FF2B5EF4-FFF2-40B4-BE49-F238E27FC236}">
                <a16:creationId xmlns:a16="http://schemas.microsoft.com/office/drawing/2014/main" id="{BDD7FD56-8044-A08D-CB23-D46964E1F227}"/>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892800" y="3184786"/>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18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221325" y="1649506"/>
            <a:ext cx="4691334" cy="520849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lt1"/>
              </a:buClr>
              <a:buSzPts val="2200"/>
              <a:buNone/>
            </a:pPr>
            <a:r>
              <a:rPr lang="en-US" b="1" dirty="0"/>
              <a:t>Green Pace Security Policy</a:t>
            </a:r>
          </a:p>
          <a:p>
            <a:pPr marL="342900">
              <a:buSzPts val="2200"/>
            </a:pPr>
            <a:r>
              <a:rPr lang="en-US" dirty="0"/>
              <a:t>Creates consistent security rules for all developers.</a:t>
            </a:r>
          </a:p>
          <a:p>
            <a:pPr marL="342900">
              <a:buSzPts val="2200"/>
            </a:pPr>
            <a:r>
              <a:rPr lang="en-US" dirty="0"/>
              <a:t>Addresses coding vulnerabilities before software is released.</a:t>
            </a:r>
          </a:p>
          <a:p>
            <a:pPr marL="342900">
              <a:buSzPts val="2200"/>
            </a:pPr>
            <a:r>
              <a:rPr lang="en-US" dirty="0"/>
              <a:t>Uses secure coding standards, testing, encryption, and access controls.</a:t>
            </a:r>
          </a:p>
          <a:p>
            <a:pPr marL="342900">
              <a:buSzPts val="2200"/>
            </a:pPr>
            <a:r>
              <a:rPr lang="en-US" dirty="0"/>
              <a:t>Supports defense in depth by using multiple layers of protection.</a:t>
            </a: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6">
            <a:alphaModFix/>
          </a:blip>
          <a:srcRect/>
          <a:stretch/>
        </p:blipFill>
        <p:spPr>
          <a:xfrm>
            <a:off x="5235483" y="1850366"/>
            <a:ext cx="5988330" cy="3590160"/>
          </a:xfrm>
          <a:prstGeom prst="rect">
            <a:avLst/>
          </a:prstGeom>
          <a:noFill/>
          <a:ln>
            <a:noFill/>
          </a:ln>
        </p:spPr>
      </p:pic>
      <p:pic>
        <p:nvPicPr>
          <p:cNvPr id="154" name="Google Shape;154;p3"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3" name="Recorded Sound">
            <a:hlinkClick r:id="" action="ppaction://media"/>
            <a:extLst>
              <a:ext uri="{FF2B5EF4-FFF2-40B4-BE49-F238E27FC236}">
                <a16:creationId xmlns:a16="http://schemas.microsoft.com/office/drawing/2014/main" id="{269BEE2C-59EF-5605-F2E3-47947C394A2C}"/>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37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409500" y="2212480"/>
            <a:ext cx="2486100" cy="4024200"/>
          </a:xfrm>
          <a:prstGeom prst="rect">
            <a:avLst/>
          </a:prstGeom>
          <a:noFill/>
          <a:ln>
            <a:noFill/>
          </a:ln>
        </p:spPr>
        <p:txBody>
          <a:bodyPr spcFirstLastPara="1" wrap="square" lIns="91425" tIns="45700" rIns="91425" bIns="45700" anchor="t" anchorCtr="0">
            <a:normAutofit fontScale="85000" lnSpcReduction="10000"/>
          </a:bodyPr>
          <a:lstStyle/>
          <a:p>
            <a:pPr marL="228600" lvl="0" indent="0">
              <a:spcBef>
                <a:spcPts val="0"/>
              </a:spcBef>
              <a:buNone/>
            </a:pPr>
            <a:r>
              <a:rPr lang="en-US" sz="2000" dirty="0"/>
              <a:t>Most of the higher-priority risks are also considered likely to happen. These include problems like SQL injection, unsafe memory use, string handling issues, and invalid container access. STD-007 is rated Probable with Medium priority, so it does not fit directly into one of the four categories shown.</a:t>
            </a:r>
            <a:endParaRPr dirty="0"/>
          </a:p>
        </p:txBody>
      </p:sp>
      <p:graphicFrame>
        <p:nvGraphicFramePr>
          <p:cNvPr id="161" name="Google Shape;161;p4" descr="Alt text required"/>
          <p:cNvGraphicFramePr/>
          <p:nvPr>
            <p:extLst>
              <p:ext uri="{D42A27DB-BD31-4B8C-83A1-F6EECF244321}">
                <p14:modId xmlns:p14="http://schemas.microsoft.com/office/powerpoint/2010/main" val="3153082487"/>
              </p:ext>
            </p:extLst>
          </p:nvPr>
        </p:nvGraphicFramePr>
        <p:xfrm>
          <a:off x="3147639" y="2030500"/>
          <a:ext cx="7835225" cy="420618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STD-002, 003, 004, 005, 008, 010</a:t>
                      </a:r>
                      <a:endParaRPr sz="36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STD-001, 002, 003, 004, 005, 008, 010</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STD-006, 009</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STD-001, 006, 009</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Recorded Sound">
            <a:hlinkClick r:id="" action="ppaction://media"/>
            <a:extLst>
              <a:ext uri="{FF2B5EF4-FFF2-40B4-BE49-F238E27FC236}">
                <a16:creationId xmlns:a16="http://schemas.microsoft.com/office/drawing/2014/main" id="{0F19258E-4BEE-902D-DFA2-8EAD1B1BBA35}"/>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69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10000"/>
          </a:bodyPr>
          <a:lstStyle/>
          <a:p>
            <a:pPr lvl="0"/>
            <a:r>
              <a:rPr lang="en-US" b="1" dirty="0"/>
              <a:t>Validate Input Data</a:t>
            </a:r>
            <a:r>
              <a:rPr lang="en-US" dirty="0"/>
              <a:t> — STD-001, 002, 003, 004, 008 </a:t>
            </a:r>
          </a:p>
          <a:p>
            <a:pPr lvl="0"/>
            <a:r>
              <a:rPr lang="en-US" b="1" dirty="0"/>
              <a:t>Heed Compiler Warnings</a:t>
            </a:r>
            <a:r>
              <a:rPr lang="en-US" dirty="0"/>
              <a:t> — STD-001, 002, 006 </a:t>
            </a:r>
          </a:p>
          <a:p>
            <a:pPr lvl="0"/>
            <a:r>
              <a:rPr lang="en-US" b="1" dirty="0"/>
              <a:t>Architect and Design for Security Policies</a:t>
            </a:r>
            <a:r>
              <a:rPr lang="en-US" dirty="0"/>
              <a:t> — No direct coding standard </a:t>
            </a:r>
          </a:p>
          <a:p>
            <a:pPr lvl="0"/>
            <a:r>
              <a:rPr lang="en-US" b="1" dirty="0"/>
              <a:t>Keep It Simple</a:t>
            </a:r>
            <a:r>
              <a:rPr lang="en-US" dirty="0"/>
              <a:t> — STD-007 </a:t>
            </a:r>
          </a:p>
          <a:p>
            <a:pPr lvl="0"/>
            <a:r>
              <a:rPr lang="en-US" b="1" dirty="0"/>
              <a:t>Default Deny</a:t>
            </a:r>
            <a:r>
              <a:rPr lang="en-US" dirty="0"/>
              <a:t> — No direct coding standard </a:t>
            </a:r>
          </a:p>
          <a:p>
            <a:pPr lvl="0"/>
            <a:r>
              <a:rPr lang="en-US" b="1" dirty="0"/>
              <a:t>Principle of Least Privilege</a:t>
            </a:r>
            <a:r>
              <a:rPr lang="en-US" dirty="0"/>
              <a:t> — No direct coding standard </a:t>
            </a:r>
          </a:p>
          <a:p>
            <a:pPr lvl="0"/>
            <a:r>
              <a:rPr lang="en-US" b="1" dirty="0"/>
              <a:t>Sanitize Data Sent to Other Systems</a:t>
            </a:r>
            <a:r>
              <a:rPr lang="en-US" dirty="0"/>
              <a:t> — STD-004 </a:t>
            </a:r>
          </a:p>
          <a:p>
            <a:pPr lvl="0"/>
            <a:r>
              <a:rPr lang="en-US" b="1" dirty="0"/>
              <a:t>Practice Defense in Depth</a:t>
            </a:r>
            <a:r>
              <a:rPr lang="en-US" dirty="0"/>
              <a:t> — No direct coding standard </a:t>
            </a:r>
          </a:p>
          <a:p>
            <a:pPr lvl="0"/>
            <a:r>
              <a:rPr lang="en-US" b="1" dirty="0"/>
              <a:t>Use Effective Quality Assurance Techniques</a:t>
            </a:r>
            <a:r>
              <a:rPr lang="en-US" dirty="0"/>
              <a:t> — STD-003, 005, 006, 007, 008, 009, 010 </a:t>
            </a:r>
          </a:p>
          <a:p>
            <a:pPr lvl="0"/>
            <a:r>
              <a:rPr lang="en-US" b="1" dirty="0"/>
              <a:t>Adopt a Secure Coding Standard</a:t>
            </a:r>
            <a:r>
              <a:rPr lang="en-US" dirty="0"/>
              <a:t> — STD-001 through STD-010</a:t>
            </a:r>
          </a:p>
        </p:txBody>
      </p:sp>
      <p:pic>
        <p:nvPicPr>
          <p:cNvPr id="169" name="Google Shape;169;p5"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Recorded Sound">
            <a:hlinkClick r:id="" action="ppaction://media"/>
            <a:extLst>
              <a:ext uri="{FF2B5EF4-FFF2-40B4-BE49-F238E27FC236}">
                <a16:creationId xmlns:a16="http://schemas.microsoft.com/office/drawing/2014/main" id="{7699B6FB-38D9-15B0-C196-AE2BA816DB75}"/>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443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5033682" cy="4024125"/>
          </a:xfrm>
          <a:prstGeom prst="rect">
            <a:avLst/>
          </a:prstGeom>
          <a:noFill/>
          <a:ln>
            <a:noFill/>
          </a:ln>
        </p:spPr>
        <p:txBody>
          <a:bodyPr spcFirstLastPara="1" wrap="square" lIns="91425" tIns="45700" rIns="91425" bIns="45700" anchor="t" anchorCtr="0">
            <a:normAutofit/>
          </a:bodyPr>
          <a:lstStyle/>
          <a:p>
            <a:pPr marL="114300" indent="0" algn="ctr">
              <a:buNone/>
            </a:pPr>
            <a:r>
              <a:rPr lang="en-US" sz="2000" b="1" dirty="0"/>
              <a:t>Coding Standards</a:t>
            </a:r>
            <a:endParaRPr lang="en-US" sz="2000" dirty="0"/>
          </a:p>
          <a:p>
            <a:r>
              <a:rPr lang="en-US" sz="2000" b="1" dirty="0"/>
              <a:t>STD-001</a:t>
            </a:r>
            <a:r>
              <a:rPr lang="en-US" sz="2000" dirty="0"/>
              <a:t> — Integer conversions</a:t>
            </a:r>
            <a:br>
              <a:rPr lang="en-US" sz="2000" dirty="0"/>
            </a:br>
            <a:r>
              <a:rPr lang="en-US" sz="2000" b="1" dirty="0"/>
              <a:t>STD-002</a:t>
            </a:r>
            <a:r>
              <a:rPr lang="en-US" sz="2000" dirty="0"/>
              <a:t> — Signed integer overflow</a:t>
            </a:r>
            <a:br>
              <a:rPr lang="en-US" sz="2000" dirty="0"/>
            </a:br>
            <a:r>
              <a:rPr lang="en-US" sz="2000" b="1" dirty="0"/>
              <a:t>STD-003</a:t>
            </a:r>
            <a:r>
              <a:rPr lang="en-US" sz="2000" dirty="0"/>
              <a:t> — String storage</a:t>
            </a:r>
            <a:br>
              <a:rPr lang="en-US" sz="2000" dirty="0"/>
            </a:br>
            <a:r>
              <a:rPr lang="en-US" sz="2000" b="1" dirty="0"/>
              <a:t>STD-004</a:t>
            </a:r>
            <a:r>
              <a:rPr lang="en-US" sz="2000" dirty="0"/>
              <a:t> — SQL injection</a:t>
            </a:r>
            <a:br>
              <a:rPr lang="en-US" sz="2000" dirty="0"/>
            </a:br>
            <a:r>
              <a:rPr lang="en-US" sz="2000" b="1" dirty="0"/>
              <a:t>STD-005</a:t>
            </a:r>
            <a:r>
              <a:rPr lang="en-US" sz="2000" dirty="0"/>
              <a:t> — Freed memory</a:t>
            </a:r>
            <a:br>
              <a:rPr lang="en-US" sz="2000" dirty="0"/>
            </a:br>
            <a:r>
              <a:rPr lang="en-US" sz="2000" b="1" dirty="0"/>
              <a:t>STD-006</a:t>
            </a:r>
            <a:r>
              <a:rPr lang="en-US" sz="2000" dirty="0"/>
              <a:t> — Assertions</a:t>
            </a:r>
            <a:br>
              <a:rPr lang="en-US" sz="2000" dirty="0"/>
            </a:br>
            <a:r>
              <a:rPr lang="en-US" sz="2000" b="1" dirty="0"/>
              <a:t>STD-007</a:t>
            </a:r>
            <a:r>
              <a:rPr lang="en-US" sz="2000" dirty="0"/>
              <a:t> — Exception handling</a:t>
            </a:r>
            <a:br>
              <a:rPr lang="en-US" sz="2000" dirty="0"/>
            </a:br>
            <a:r>
              <a:rPr lang="en-US" sz="2000" b="1" dirty="0"/>
              <a:t>STD-008</a:t>
            </a:r>
            <a:r>
              <a:rPr lang="en-US" sz="2000" dirty="0"/>
              <a:t> — Container access</a:t>
            </a:r>
            <a:br>
              <a:rPr lang="en-US" sz="2000" dirty="0"/>
            </a:br>
            <a:r>
              <a:rPr lang="en-US" sz="2000" b="1" dirty="0"/>
              <a:t>STD-009</a:t>
            </a:r>
            <a:r>
              <a:rPr lang="en-US" sz="2000" dirty="0"/>
              <a:t> — File handling</a:t>
            </a:r>
            <a:br>
              <a:rPr lang="en-US" sz="2000" dirty="0"/>
            </a:br>
            <a:r>
              <a:rPr lang="en-US" sz="2000" b="1" dirty="0"/>
              <a:t>STD-010</a:t>
            </a:r>
            <a:r>
              <a:rPr lang="en-US" sz="2000" dirty="0"/>
              <a:t> — Memory deallocation</a:t>
            </a:r>
          </a:p>
        </p:txBody>
      </p:sp>
      <p:pic>
        <p:nvPicPr>
          <p:cNvPr id="176" name="Google Shape;176;p6"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3" name="TextBox 2">
            <a:extLst>
              <a:ext uri="{FF2B5EF4-FFF2-40B4-BE49-F238E27FC236}">
                <a16:creationId xmlns:a16="http://schemas.microsoft.com/office/drawing/2014/main" id="{36AECDD3-BAA1-A05D-304F-1372342407E3}"/>
              </a:ext>
            </a:extLst>
          </p:cNvPr>
          <p:cNvSpPr txBox="1"/>
          <p:nvPr/>
        </p:nvSpPr>
        <p:spPr>
          <a:xfrm>
            <a:off x="6096000" y="2194561"/>
            <a:ext cx="4751293" cy="1631216"/>
          </a:xfrm>
          <a:prstGeom prst="rect">
            <a:avLst/>
          </a:prstGeom>
          <a:noFill/>
        </p:spPr>
        <p:txBody>
          <a:bodyPr wrap="square" rtlCol="0">
            <a:spAutoFit/>
          </a:bodyPr>
          <a:lstStyle/>
          <a:p>
            <a:pPr algn="ctr"/>
            <a:r>
              <a:rPr lang="en-US" sz="2000" b="1" dirty="0">
                <a:solidFill>
                  <a:schemeClr val="bg1"/>
                </a:solidFill>
                <a:latin typeface="Century Gothic" panose="020B0502020202020204" pitchFamily="34" charset="0"/>
              </a:rPr>
              <a:t>Risk Ranking</a:t>
            </a:r>
            <a:endParaRPr lang="en-US" sz="2000" dirty="0">
              <a:solidFill>
                <a:schemeClr val="bg1"/>
              </a:solidFill>
              <a:latin typeface="Century Gothic" panose="020B0502020202020204" pitchFamily="34" charset="0"/>
            </a:endParaRPr>
          </a:p>
          <a:p>
            <a:pPr marL="342900" lvl="0" indent="-342900">
              <a:buClr>
                <a:schemeClr val="bg1"/>
              </a:buClr>
              <a:buFont typeface="Arial" panose="020B0604020202020204" pitchFamily="34" charset="0"/>
              <a:buChar char="•"/>
            </a:pPr>
            <a:r>
              <a:rPr lang="en-US" sz="2000" b="1" dirty="0">
                <a:solidFill>
                  <a:schemeClr val="bg1"/>
                </a:solidFill>
                <a:latin typeface="Century Gothic" panose="020B0502020202020204" pitchFamily="34" charset="0"/>
              </a:rPr>
              <a:t>High Priority:</a:t>
            </a:r>
            <a:r>
              <a:rPr lang="en-US" sz="2000" dirty="0">
                <a:solidFill>
                  <a:schemeClr val="bg1"/>
                </a:solidFill>
                <a:latin typeface="Century Gothic" panose="020B0502020202020204" pitchFamily="34" charset="0"/>
              </a:rPr>
              <a:t> STD-001, 002, 003, 004, 005, 008, 010</a:t>
            </a:r>
          </a:p>
          <a:p>
            <a:pPr marL="342900" lvl="0" indent="-342900">
              <a:buClr>
                <a:schemeClr val="bg1"/>
              </a:buClr>
              <a:buFont typeface="Arial" panose="020B0604020202020204" pitchFamily="34" charset="0"/>
              <a:buChar char="•"/>
            </a:pPr>
            <a:r>
              <a:rPr lang="en-US" sz="2000" b="1" dirty="0">
                <a:solidFill>
                  <a:schemeClr val="bg1"/>
                </a:solidFill>
                <a:latin typeface="Century Gothic" panose="020B0502020202020204" pitchFamily="34" charset="0"/>
              </a:rPr>
              <a:t>Medium Priority:</a:t>
            </a:r>
            <a:r>
              <a:rPr lang="en-US" sz="2000" dirty="0">
                <a:solidFill>
                  <a:schemeClr val="bg1"/>
                </a:solidFill>
                <a:latin typeface="Century Gothic" panose="020B0502020202020204" pitchFamily="34" charset="0"/>
              </a:rPr>
              <a:t> STD-007</a:t>
            </a:r>
          </a:p>
          <a:p>
            <a:pPr marL="342900" lvl="0" indent="-342900">
              <a:buClr>
                <a:schemeClr val="bg1"/>
              </a:buClr>
              <a:buFont typeface="Arial" panose="020B0604020202020204" pitchFamily="34" charset="0"/>
              <a:buChar char="•"/>
            </a:pPr>
            <a:r>
              <a:rPr lang="en-US" sz="2000" b="1" dirty="0">
                <a:solidFill>
                  <a:schemeClr val="bg1"/>
                </a:solidFill>
                <a:latin typeface="Century Gothic" panose="020B0502020202020204" pitchFamily="34" charset="0"/>
              </a:rPr>
              <a:t>Low Priority:</a:t>
            </a:r>
            <a:r>
              <a:rPr lang="en-US" sz="2000" dirty="0">
                <a:solidFill>
                  <a:schemeClr val="bg1"/>
                </a:solidFill>
                <a:latin typeface="Century Gothic" panose="020B0502020202020204" pitchFamily="34" charset="0"/>
              </a:rPr>
              <a:t> STD-006, 009</a:t>
            </a:r>
          </a:p>
        </p:txBody>
      </p:sp>
      <p:pic>
        <p:nvPicPr>
          <p:cNvPr id="4" name="Recorded Sound">
            <a:hlinkClick r:id="" action="ppaction://media"/>
            <a:extLst>
              <a:ext uri="{FF2B5EF4-FFF2-40B4-BE49-F238E27FC236}">
                <a16:creationId xmlns:a16="http://schemas.microsoft.com/office/drawing/2014/main" id="{5FB11BBD-8D59-48AB-9706-DA51ECE8329F}"/>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726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85000" lnSpcReduction="20000"/>
          </a:bodyPr>
          <a:lstStyle/>
          <a:p>
            <a:pPr marL="114300" indent="0">
              <a:buNone/>
            </a:pPr>
            <a:r>
              <a:rPr lang="en-US" sz="2000" b="1" dirty="0"/>
              <a:t>In Flight</a:t>
            </a:r>
            <a:endParaRPr lang="en-US" sz="2000" dirty="0"/>
          </a:p>
          <a:p>
            <a:pPr lvl="0"/>
            <a:r>
              <a:rPr lang="en-US" sz="2000" dirty="0"/>
              <a:t>Protects data while being transmitted</a:t>
            </a:r>
          </a:p>
          <a:p>
            <a:pPr lvl="0"/>
            <a:r>
              <a:rPr lang="en-US" sz="2000" dirty="0"/>
              <a:t>Green Pace </a:t>
            </a:r>
            <a:r>
              <a:rPr lang="en-US" sz="2000" b="1" dirty="0"/>
              <a:t>must use TLS 1.3 or greater</a:t>
            </a:r>
            <a:endParaRPr lang="en-US" sz="2000" dirty="0"/>
          </a:p>
          <a:p>
            <a:pPr lvl="0"/>
            <a:r>
              <a:rPr lang="en-US" sz="2000" dirty="0"/>
              <a:t>Applies to sensitive data sent between users, applications, and systems</a:t>
            </a:r>
          </a:p>
          <a:p>
            <a:pPr marL="114300" indent="0">
              <a:buNone/>
            </a:pPr>
            <a:r>
              <a:rPr lang="en-US" sz="2000" b="1" dirty="0"/>
              <a:t>At Rest</a:t>
            </a:r>
            <a:endParaRPr lang="en-US" sz="2000" dirty="0"/>
          </a:p>
          <a:p>
            <a:pPr lvl="0"/>
            <a:r>
              <a:rPr lang="en-US" sz="2000" dirty="0"/>
              <a:t>Protects stored data</a:t>
            </a:r>
          </a:p>
          <a:p>
            <a:pPr lvl="0"/>
            <a:r>
              <a:rPr lang="en-US" sz="2000" dirty="0"/>
              <a:t>Green Pace </a:t>
            </a:r>
            <a:r>
              <a:rPr lang="en-US" sz="2000" b="1" dirty="0"/>
              <a:t>must use AES-256 or stronger</a:t>
            </a:r>
            <a:endParaRPr lang="en-US" sz="2000" dirty="0"/>
          </a:p>
          <a:p>
            <a:pPr lvl="0"/>
            <a:r>
              <a:rPr lang="en-US" sz="2000" dirty="0"/>
              <a:t>Applies to databases, files, and backups</a:t>
            </a:r>
          </a:p>
          <a:p>
            <a:pPr marL="114300" indent="0">
              <a:buNone/>
            </a:pPr>
            <a:r>
              <a:rPr lang="en-US" sz="2000" b="1" dirty="0"/>
              <a:t>In Use</a:t>
            </a:r>
            <a:endParaRPr lang="en-US" sz="2000" dirty="0"/>
          </a:p>
          <a:p>
            <a:pPr lvl="0"/>
            <a:r>
              <a:rPr lang="en-US" sz="2000" dirty="0"/>
              <a:t>Protects data while it is being processed</a:t>
            </a:r>
          </a:p>
          <a:p>
            <a:pPr lvl="0"/>
            <a:r>
              <a:rPr lang="en-US" sz="2000" dirty="0"/>
              <a:t>Sensitive data </a:t>
            </a:r>
            <a:r>
              <a:rPr lang="en-US" sz="2000" b="1" dirty="0"/>
              <a:t>must be processed within a Trusted Execution Environment (TEE)</a:t>
            </a:r>
            <a:endParaRPr lang="en-US" sz="2000" dirty="0"/>
          </a:p>
          <a:p>
            <a:pPr lvl="0"/>
            <a:r>
              <a:rPr lang="en-US" sz="2000" dirty="0"/>
              <a:t>Limits exposure while data is active in memory</a:t>
            </a:r>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Recorded Sound">
            <a:hlinkClick r:id="" action="ppaction://media"/>
            <a:extLst>
              <a:ext uri="{FF2B5EF4-FFF2-40B4-BE49-F238E27FC236}">
                <a16:creationId xmlns:a16="http://schemas.microsoft.com/office/drawing/2014/main" id="{DCC8B7B8-2AFA-AEB8-C93F-686A165E0A58}"/>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90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7500" lnSpcReduction="20000"/>
          </a:bodyPr>
          <a:lstStyle/>
          <a:p>
            <a:pPr marL="114300" indent="0">
              <a:buNone/>
            </a:pPr>
            <a:r>
              <a:rPr lang="en-US" b="1" dirty="0"/>
              <a:t>Authentication</a:t>
            </a:r>
            <a:endParaRPr lang="en-US" dirty="0"/>
          </a:p>
          <a:p>
            <a:pPr lvl="0"/>
            <a:r>
              <a:rPr lang="en-US" dirty="0"/>
              <a:t>Verifies a user’s identity before access is granted</a:t>
            </a:r>
          </a:p>
          <a:p>
            <a:pPr lvl="0"/>
            <a:r>
              <a:rPr lang="en-US" dirty="0"/>
              <a:t>Green Pace </a:t>
            </a:r>
            <a:r>
              <a:rPr lang="en-US" b="1" dirty="0"/>
              <a:t>must require unique credentials</a:t>
            </a:r>
            <a:endParaRPr lang="en-US" dirty="0"/>
          </a:p>
          <a:p>
            <a:pPr lvl="0"/>
            <a:r>
              <a:rPr lang="en-US" b="1" dirty="0"/>
              <a:t>Multi-factor authentication</a:t>
            </a:r>
            <a:r>
              <a:rPr lang="en-US" dirty="0"/>
              <a:t> must be used for sensitive systems</a:t>
            </a:r>
          </a:p>
          <a:p>
            <a:pPr marL="114300" indent="0">
              <a:buNone/>
            </a:pPr>
            <a:r>
              <a:rPr lang="en-US" b="1" dirty="0"/>
              <a:t>Authorization</a:t>
            </a:r>
            <a:endParaRPr lang="en-US" dirty="0"/>
          </a:p>
          <a:p>
            <a:pPr lvl="0"/>
            <a:r>
              <a:rPr lang="en-US" dirty="0"/>
              <a:t>Controls what an authenticated user can access</a:t>
            </a:r>
          </a:p>
          <a:p>
            <a:pPr lvl="0"/>
            <a:r>
              <a:rPr lang="en-US" dirty="0"/>
              <a:t>Green Pace </a:t>
            </a:r>
            <a:r>
              <a:rPr lang="en-US" b="1" dirty="0"/>
              <a:t>must use Role-Based Access Control (RBAC)</a:t>
            </a:r>
            <a:endParaRPr lang="en-US" dirty="0"/>
          </a:p>
          <a:p>
            <a:pPr lvl="0"/>
            <a:r>
              <a:rPr lang="en-US" dirty="0"/>
              <a:t>Access must follow the </a:t>
            </a:r>
            <a:r>
              <a:rPr lang="en-US" b="1" dirty="0"/>
              <a:t>principle of least privilege</a:t>
            </a:r>
            <a:endParaRPr lang="en-US" dirty="0"/>
          </a:p>
          <a:p>
            <a:pPr marL="114300" indent="0">
              <a:buNone/>
            </a:pPr>
            <a:r>
              <a:rPr lang="en-US" b="1" dirty="0"/>
              <a:t>Accounting</a:t>
            </a:r>
            <a:endParaRPr lang="en-US" dirty="0"/>
          </a:p>
          <a:p>
            <a:pPr lvl="0"/>
            <a:r>
              <a:rPr lang="en-US" dirty="0"/>
              <a:t>Records important user and system activity</a:t>
            </a:r>
          </a:p>
          <a:p>
            <a:pPr lvl="0"/>
            <a:r>
              <a:rPr lang="en-US" dirty="0"/>
              <a:t>Green Pace </a:t>
            </a:r>
            <a:r>
              <a:rPr lang="en-US" b="1" dirty="0"/>
              <a:t>must log</a:t>
            </a:r>
            <a:r>
              <a:rPr lang="en-US" dirty="0"/>
              <a:t> logins, access changes, and sensitive actions</a:t>
            </a:r>
          </a:p>
          <a:p>
            <a:pPr lvl="0"/>
            <a:r>
              <a:rPr lang="en-US" dirty="0"/>
              <a:t>Logs support audits and security investigations</a:t>
            </a:r>
          </a:p>
          <a:p>
            <a:pPr marL="228600" lvl="0" indent="-228600" algn="l" rtl="0">
              <a:lnSpc>
                <a:spcPct val="90000"/>
              </a:lnSpc>
              <a:spcBef>
                <a:spcPts val="0"/>
              </a:spcBef>
              <a:spcAft>
                <a:spcPts val="0"/>
              </a:spcAft>
              <a:buClr>
                <a:schemeClr val="lt1"/>
              </a:buClr>
              <a:buSzPts val="2400"/>
              <a:buChar char="•"/>
            </a:pPr>
            <a:endParaRPr dirty="0"/>
          </a:p>
        </p:txBody>
      </p:sp>
      <p:pic>
        <p:nvPicPr>
          <p:cNvPr id="190" name="Google Shape;190;p8"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Recorded Sound">
            <a:hlinkClick r:id="" action="ppaction://media"/>
            <a:extLst>
              <a:ext uri="{FF2B5EF4-FFF2-40B4-BE49-F238E27FC236}">
                <a16:creationId xmlns:a16="http://schemas.microsoft.com/office/drawing/2014/main" id="{DEAF0395-BD48-6FE5-AF33-644B0FEE0083}"/>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531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952511" y="4595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a valid first index return the correct value?</a:t>
            </a:r>
            <a:endParaRPr dirty="0"/>
          </a:p>
        </p:txBody>
      </p:sp>
      <p:sp>
        <p:nvSpPr>
          <p:cNvPr id="196" name="Google Shape;196;g9504e29505_0_0"/>
          <p:cNvSpPr txBox="1">
            <a:spLocks noGrp="1"/>
          </p:cNvSpPr>
          <p:nvPr>
            <p:ph type="body" idx="1"/>
          </p:nvPr>
        </p:nvSpPr>
        <p:spPr>
          <a:xfrm>
            <a:off x="695873" y="1990294"/>
            <a:ext cx="2953871" cy="416138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Vulnerability:</a:t>
            </a:r>
          </a:p>
          <a:p>
            <a:pPr marL="0" lvl="0" indent="0" algn="l" rtl="0">
              <a:lnSpc>
                <a:spcPct val="90000"/>
              </a:lnSpc>
              <a:spcBef>
                <a:spcPts val="1000"/>
              </a:spcBef>
              <a:spcAft>
                <a:spcPts val="0"/>
              </a:spcAft>
              <a:buSzPts val="1800"/>
              <a:buNone/>
            </a:pPr>
            <a:r>
              <a:rPr lang="en-US" dirty="0"/>
              <a:t>STD-008</a:t>
            </a:r>
          </a:p>
          <a:p>
            <a:pPr marL="0" lvl="0" indent="0" algn="l" rtl="0">
              <a:lnSpc>
                <a:spcPct val="90000"/>
              </a:lnSpc>
              <a:spcBef>
                <a:spcPts val="1000"/>
              </a:spcBef>
              <a:spcAft>
                <a:spcPts val="0"/>
              </a:spcAft>
              <a:buSzPts val="1800"/>
              <a:buNone/>
            </a:pPr>
            <a:r>
              <a:rPr lang="en-US" dirty="0"/>
              <a:t>Container Access</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Test Type: </a:t>
            </a:r>
          </a:p>
          <a:p>
            <a:pPr marL="0" lvl="0" indent="0" algn="l" rtl="0">
              <a:lnSpc>
                <a:spcPct val="90000"/>
              </a:lnSpc>
              <a:spcBef>
                <a:spcPts val="1000"/>
              </a:spcBef>
              <a:spcAft>
                <a:spcPts val="0"/>
              </a:spcAft>
              <a:buSzPts val="1800"/>
              <a:buNone/>
            </a:pPr>
            <a:r>
              <a:rPr lang="en-US" dirty="0"/>
              <a:t>Positive Test</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Result: PASS</a:t>
            </a:r>
            <a:endParaRPr dirty="0"/>
          </a:p>
        </p:txBody>
      </p:sp>
      <p:pic>
        <p:nvPicPr>
          <p:cNvPr id="197" name="Google Shape;197;g9504e29505_0_0" descr="Green Pace logo"/>
          <p:cNvPicPr preferRelativeResize="0"/>
          <p:nvPr/>
        </p:nvPicPr>
        <p:blipFill>
          <a:blip r:embed="rId6">
            <a:alphaModFix/>
          </a:blip>
          <a:stretch>
            <a:fillRect/>
          </a:stretch>
        </p:blipFill>
        <p:spPr>
          <a:xfrm>
            <a:off x="11119809" y="5577069"/>
            <a:ext cx="886601" cy="1149225"/>
          </a:xfrm>
          <a:prstGeom prst="rect">
            <a:avLst/>
          </a:prstGeom>
          <a:noFill/>
          <a:ln>
            <a:noFill/>
          </a:ln>
        </p:spPr>
      </p:pic>
      <p:pic>
        <p:nvPicPr>
          <p:cNvPr id="6" name="Picture 5" descr="The image shows a code snippet from a unit testing framework, specifically a test case for a vector of integers, and a summary of the test results.&#10;&#10;AI-generated content may be incorrect.">
            <a:extLst>
              <a:ext uri="{FF2B5EF4-FFF2-40B4-BE49-F238E27FC236}">
                <a16:creationId xmlns:a16="http://schemas.microsoft.com/office/drawing/2014/main" id="{F6F21DA9-769C-459E-1690-D96004C9CBE6}"/>
              </a:ext>
            </a:extLst>
          </p:cNvPr>
          <p:cNvPicPr>
            <a:picLocks noChangeAspect="1"/>
          </p:cNvPicPr>
          <p:nvPr/>
        </p:nvPicPr>
        <p:blipFill>
          <a:blip r:embed="rId7"/>
          <a:stretch>
            <a:fillRect/>
          </a:stretch>
        </p:blipFill>
        <p:spPr>
          <a:xfrm>
            <a:off x="3903677" y="1657918"/>
            <a:ext cx="6708267" cy="4740509"/>
          </a:xfrm>
          <a:prstGeom prst="rect">
            <a:avLst/>
          </a:prstGeom>
        </p:spPr>
      </p:pic>
      <p:pic>
        <p:nvPicPr>
          <p:cNvPr id="7" name="Recorded Sound">
            <a:hlinkClick r:id="" action="ppaction://media"/>
            <a:extLst>
              <a:ext uri="{FF2B5EF4-FFF2-40B4-BE49-F238E27FC236}">
                <a16:creationId xmlns:a16="http://schemas.microsoft.com/office/drawing/2014/main" id="{68BF29AD-3C82-4858-AFE3-3264C82F7332}"/>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019"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5E9FCE57-F9F2-9254-7B5D-E9C9C1448D61}"/>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29373E45-51EA-719C-7C15-93AFB13DD655}"/>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a valid last index return the correct value?</a:t>
            </a:r>
            <a:endParaRPr dirty="0"/>
          </a:p>
        </p:txBody>
      </p:sp>
      <p:sp>
        <p:nvSpPr>
          <p:cNvPr id="196" name="Google Shape;196;g9504e29505_0_0">
            <a:extLst>
              <a:ext uri="{FF2B5EF4-FFF2-40B4-BE49-F238E27FC236}">
                <a16:creationId xmlns:a16="http://schemas.microsoft.com/office/drawing/2014/main" id="{2F5B6CE6-8D13-C8AF-4FB1-8D314731C952}"/>
              </a:ext>
            </a:extLst>
          </p:cNvPr>
          <p:cNvSpPr txBox="1">
            <a:spLocks noGrp="1"/>
          </p:cNvSpPr>
          <p:nvPr>
            <p:ph type="body" idx="1"/>
          </p:nvPr>
        </p:nvSpPr>
        <p:spPr>
          <a:xfrm>
            <a:off x="685800" y="2057373"/>
            <a:ext cx="2953871" cy="416138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Vulnerability:</a:t>
            </a:r>
          </a:p>
          <a:p>
            <a:pPr marL="0" lvl="0" indent="0" algn="l" rtl="0">
              <a:lnSpc>
                <a:spcPct val="90000"/>
              </a:lnSpc>
              <a:spcBef>
                <a:spcPts val="1000"/>
              </a:spcBef>
              <a:spcAft>
                <a:spcPts val="0"/>
              </a:spcAft>
              <a:buSzPts val="1800"/>
              <a:buNone/>
            </a:pPr>
            <a:r>
              <a:rPr lang="en-US" dirty="0"/>
              <a:t>STD-008</a:t>
            </a:r>
          </a:p>
          <a:p>
            <a:pPr marL="0" lvl="0" indent="0" algn="l" rtl="0">
              <a:lnSpc>
                <a:spcPct val="90000"/>
              </a:lnSpc>
              <a:spcBef>
                <a:spcPts val="1000"/>
              </a:spcBef>
              <a:spcAft>
                <a:spcPts val="0"/>
              </a:spcAft>
              <a:buSzPts val="1800"/>
              <a:buNone/>
            </a:pPr>
            <a:r>
              <a:rPr lang="en-US" dirty="0"/>
              <a:t>Container Access</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Test Type: </a:t>
            </a:r>
          </a:p>
          <a:p>
            <a:pPr marL="0" lvl="0" indent="0" algn="l" rtl="0">
              <a:lnSpc>
                <a:spcPct val="90000"/>
              </a:lnSpc>
              <a:spcBef>
                <a:spcPts val="1000"/>
              </a:spcBef>
              <a:spcAft>
                <a:spcPts val="0"/>
              </a:spcAft>
              <a:buSzPts val="1800"/>
              <a:buNone/>
            </a:pPr>
            <a:r>
              <a:rPr lang="en-US" dirty="0"/>
              <a:t>Positive Test</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Result: PASS</a:t>
            </a:r>
            <a:endParaRPr dirty="0"/>
          </a:p>
        </p:txBody>
      </p:sp>
      <p:pic>
        <p:nvPicPr>
          <p:cNvPr id="197" name="Google Shape;197;g9504e29505_0_0" descr="Green Pace logo">
            <a:extLst>
              <a:ext uri="{FF2B5EF4-FFF2-40B4-BE49-F238E27FC236}">
                <a16:creationId xmlns:a16="http://schemas.microsoft.com/office/drawing/2014/main" id="{63EB8371-05CD-CBE1-DAAA-D66858101939}"/>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4" name="Picture 3" descr="The image displays a code snippet from a unit testing framework, specifically a test case for a container object, which checks if the value at the second position in a vector of integers equals 30.&#10;&#10;AI-generated content may be incorrect.">
            <a:extLst>
              <a:ext uri="{FF2B5EF4-FFF2-40B4-BE49-F238E27FC236}">
                <a16:creationId xmlns:a16="http://schemas.microsoft.com/office/drawing/2014/main" id="{C58A0356-85BA-AB8D-BE74-BABC2DF7EF50}"/>
              </a:ext>
            </a:extLst>
          </p:cNvPr>
          <p:cNvPicPr>
            <a:picLocks noChangeAspect="1"/>
          </p:cNvPicPr>
          <p:nvPr/>
        </p:nvPicPr>
        <p:blipFill>
          <a:blip r:embed="rId7"/>
          <a:stretch>
            <a:fillRect/>
          </a:stretch>
        </p:blipFill>
        <p:spPr>
          <a:xfrm>
            <a:off x="3334871" y="2373392"/>
            <a:ext cx="8778434" cy="2751114"/>
          </a:xfrm>
          <a:prstGeom prst="rect">
            <a:avLst/>
          </a:prstGeom>
        </p:spPr>
      </p:pic>
      <p:pic>
        <p:nvPicPr>
          <p:cNvPr id="5" name="Recorded Sound">
            <a:hlinkClick r:id="" action="ppaction://media"/>
            <a:extLst>
              <a:ext uri="{FF2B5EF4-FFF2-40B4-BE49-F238E27FC236}">
                <a16:creationId xmlns:a16="http://schemas.microsoft.com/office/drawing/2014/main" id="{D7E492E7-B754-865F-1043-1B7B004355B7}"/>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5892800" y="3225800"/>
            <a:ext cx="406400" cy="406400"/>
          </a:xfrm>
          <a:prstGeom prst="rect">
            <a:avLst/>
          </a:prstGeom>
        </p:spPr>
      </p:pic>
    </p:spTree>
    <p:custDataLst>
      <p:tags r:id="rId1"/>
    </p:custDataLst>
    <p:extLst>
      <p:ext uri="{BB962C8B-B14F-4D97-AF65-F5344CB8AC3E}">
        <p14:creationId xmlns:p14="http://schemas.microsoft.com/office/powerpoint/2010/main" val="128606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58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A6C6C17E-5D27-70D8-D2F7-FC680154A087}"/>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3AD8702A-ABF7-0BC3-767A-D9B2D210AEF5}"/>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an index equal to the vector size throw an exception?</a:t>
            </a:r>
            <a:endParaRPr dirty="0"/>
          </a:p>
        </p:txBody>
      </p:sp>
      <p:sp>
        <p:nvSpPr>
          <p:cNvPr id="196" name="Google Shape;196;g9504e29505_0_0">
            <a:extLst>
              <a:ext uri="{FF2B5EF4-FFF2-40B4-BE49-F238E27FC236}">
                <a16:creationId xmlns:a16="http://schemas.microsoft.com/office/drawing/2014/main" id="{F17FC266-2117-6A42-F5B2-0C49BAF88681}"/>
              </a:ext>
            </a:extLst>
          </p:cNvPr>
          <p:cNvSpPr txBox="1">
            <a:spLocks noGrp="1"/>
          </p:cNvSpPr>
          <p:nvPr>
            <p:ph type="body" idx="1"/>
          </p:nvPr>
        </p:nvSpPr>
        <p:spPr>
          <a:xfrm>
            <a:off x="406204" y="2057373"/>
            <a:ext cx="2953871" cy="416138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Vulnerability:</a:t>
            </a:r>
          </a:p>
          <a:p>
            <a:pPr marL="0" lvl="0" indent="0" algn="l" rtl="0">
              <a:lnSpc>
                <a:spcPct val="90000"/>
              </a:lnSpc>
              <a:spcBef>
                <a:spcPts val="1000"/>
              </a:spcBef>
              <a:spcAft>
                <a:spcPts val="0"/>
              </a:spcAft>
              <a:buSzPts val="1800"/>
              <a:buNone/>
            </a:pPr>
            <a:r>
              <a:rPr lang="en-US" dirty="0"/>
              <a:t>STD-008</a:t>
            </a:r>
          </a:p>
          <a:p>
            <a:pPr marL="0" lvl="0" indent="0" algn="l" rtl="0">
              <a:lnSpc>
                <a:spcPct val="90000"/>
              </a:lnSpc>
              <a:spcBef>
                <a:spcPts val="1000"/>
              </a:spcBef>
              <a:spcAft>
                <a:spcPts val="0"/>
              </a:spcAft>
              <a:buSzPts val="1800"/>
              <a:buNone/>
            </a:pPr>
            <a:r>
              <a:rPr lang="en-US" dirty="0"/>
              <a:t>Container Access</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Test Type: </a:t>
            </a:r>
          </a:p>
          <a:p>
            <a:pPr marL="0" lvl="0" indent="0" algn="l" rtl="0">
              <a:lnSpc>
                <a:spcPct val="90000"/>
              </a:lnSpc>
              <a:spcBef>
                <a:spcPts val="1000"/>
              </a:spcBef>
              <a:spcAft>
                <a:spcPts val="0"/>
              </a:spcAft>
              <a:buSzPts val="1800"/>
              <a:buNone/>
            </a:pPr>
            <a:r>
              <a:rPr lang="en-US" dirty="0"/>
              <a:t>Negative Test</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Result: PASS</a:t>
            </a:r>
            <a:endParaRPr dirty="0"/>
          </a:p>
        </p:txBody>
      </p:sp>
      <p:pic>
        <p:nvPicPr>
          <p:cNvPr id="197" name="Google Shape;197;g9504e29505_0_0" descr="Green Pace logo">
            <a:extLst>
              <a:ext uri="{FF2B5EF4-FFF2-40B4-BE49-F238E27FC236}">
                <a16:creationId xmlns:a16="http://schemas.microsoft.com/office/drawing/2014/main" id="{90CB2DAE-190C-E063-212A-2FDE6E78425A}"/>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5" name="Picture 4" descr="The image shows a snippet of C++ code with a Google Test framework, featuring a test case that checks for an exception when accessing an out-of-range index in a vector.&#10;&#10;AI-generated content may be incorrect.">
            <a:extLst>
              <a:ext uri="{FF2B5EF4-FFF2-40B4-BE49-F238E27FC236}">
                <a16:creationId xmlns:a16="http://schemas.microsoft.com/office/drawing/2014/main" id="{4A385197-81FB-B5AB-5E6F-7740744B1343}"/>
              </a:ext>
            </a:extLst>
          </p:cNvPr>
          <p:cNvPicPr>
            <a:picLocks noChangeAspect="1"/>
          </p:cNvPicPr>
          <p:nvPr/>
        </p:nvPicPr>
        <p:blipFill>
          <a:blip r:embed="rId7"/>
          <a:stretch>
            <a:fillRect/>
          </a:stretch>
        </p:blipFill>
        <p:spPr>
          <a:xfrm>
            <a:off x="3175196" y="3350373"/>
            <a:ext cx="8972914" cy="1947243"/>
          </a:xfrm>
          <a:prstGeom prst="rect">
            <a:avLst/>
          </a:prstGeom>
        </p:spPr>
      </p:pic>
      <p:pic>
        <p:nvPicPr>
          <p:cNvPr id="6" name="Recorded Sound">
            <a:hlinkClick r:id="" action="ppaction://media"/>
            <a:extLst>
              <a:ext uri="{FF2B5EF4-FFF2-40B4-BE49-F238E27FC236}">
                <a16:creationId xmlns:a16="http://schemas.microsoft.com/office/drawing/2014/main" id="{07FFE105-5BA9-C748-C95F-B6BE80651394}"/>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5892800" y="3225800"/>
            <a:ext cx="406400" cy="406400"/>
          </a:xfrm>
          <a:prstGeom prst="rect">
            <a:avLst/>
          </a:prstGeom>
        </p:spPr>
      </p:pic>
    </p:spTree>
    <p:custDataLst>
      <p:tags r:id="rId1"/>
    </p:custDataLst>
    <p:extLst>
      <p:ext uri="{BB962C8B-B14F-4D97-AF65-F5344CB8AC3E}">
        <p14:creationId xmlns:p14="http://schemas.microsoft.com/office/powerpoint/2010/main" val="236496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139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77E55250-893C-11DC-5B70-2604E45EBBEC}"/>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E8771628-E6B2-36C8-AD11-F9F0CF26C4D5}"/>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a negative index throw an exception?</a:t>
            </a:r>
            <a:endParaRPr dirty="0"/>
          </a:p>
        </p:txBody>
      </p:sp>
      <p:sp>
        <p:nvSpPr>
          <p:cNvPr id="196" name="Google Shape;196;g9504e29505_0_0">
            <a:extLst>
              <a:ext uri="{FF2B5EF4-FFF2-40B4-BE49-F238E27FC236}">
                <a16:creationId xmlns:a16="http://schemas.microsoft.com/office/drawing/2014/main" id="{CEFE87C5-8ED4-FCCD-0112-DB09CBEE61BA}"/>
              </a:ext>
            </a:extLst>
          </p:cNvPr>
          <p:cNvSpPr txBox="1">
            <a:spLocks noGrp="1"/>
          </p:cNvSpPr>
          <p:nvPr>
            <p:ph type="body" idx="1"/>
          </p:nvPr>
        </p:nvSpPr>
        <p:spPr>
          <a:xfrm>
            <a:off x="685800" y="2057373"/>
            <a:ext cx="2953871" cy="416138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Vulnerability:</a:t>
            </a:r>
          </a:p>
          <a:p>
            <a:pPr marL="0" lvl="0" indent="0" algn="l" rtl="0">
              <a:lnSpc>
                <a:spcPct val="90000"/>
              </a:lnSpc>
              <a:spcBef>
                <a:spcPts val="1000"/>
              </a:spcBef>
              <a:spcAft>
                <a:spcPts val="0"/>
              </a:spcAft>
              <a:buSzPts val="1800"/>
              <a:buNone/>
            </a:pPr>
            <a:r>
              <a:rPr lang="en-US" dirty="0"/>
              <a:t>STD-008</a:t>
            </a:r>
          </a:p>
          <a:p>
            <a:pPr marL="0" lvl="0" indent="0" algn="l" rtl="0">
              <a:lnSpc>
                <a:spcPct val="90000"/>
              </a:lnSpc>
              <a:spcBef>
                <a:spcPts val="1000"/>
              </a:spcBef>
              <a:spcAft>
                <a:spcPts val="0"/>
              </a:spcAft>
              <a:buSzPts val="1800"/>
              <a:buNone/>
            </a:pPr>
            <a:r>
              <a:rPr lang="en-US" dirty="0"/>
              <a:t>Container Access</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Test Type: </a:t>
            </a:r>
          </a:p>
          <a:p>
            <a:pPr marL="0" lvl="0" indent="0" algn="l" rtl="0">
              <a:lnSpc>
                <a:spcPct val="90000"/>
              </a:lnSpc>
              <a:spcBef>
                <a:spcPts val="1000"/>
              </a:spcBef>
              <a:spcAft>
                <a:spcPts val="0"/>
              </a:spcAft>
              <a:buSzPts val="1800"/>
              <a:buNone/>
            </a:pPr>
            <a:r>
              <a:rPr lang="en-US" dirty="0"/>
              <a:t>Negative Test</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Result: PASS</a:t>
            </a:r>
            <a:endParaRPr dirty="0"/>
          </a:p>
        </p:txBody>
      </p:sp>
      <p:pic>
        <p:nvPicPr>
          <p:cNvPr id="197" name="Google Shape;197;g9504e29505_0_0" descr="Green Pace logo">
            <a:extLst>
              <a:ext uri="{FF2B5EF4-FFF2-40B4-BE49-F238E27FC236}">
                <a16:creationId xmlns:a16="http://schemas.microsoft.com/office/drawing/2014/main" id="{82DB7F98-E0F2-B9DD-2973-C9A33E9E6A6F}"/>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4" name="Picture 3" descr="The image depicts a code snippet from a unit test, specifically testing for an exception when attempting to access an invalid index in a vector.&#10;&#10;AI-generated content may be incorrect.">
            <a:extLst>
              <a:ext uri="{FF2B5EF4-FFF2-40B4-BE49-F238E27FC236}">
                <a16:creationId xmlns:a16="http://schemas.microsoft.com/office/drawing/2014/main" id="{634C85ED-88AC-5469-0909-4C598FB4D8F1}"/>
              </a:ext>
            </a:extLst>
          </p:cNvPr>
          <p:cNvPicPr>
            <a:picLocks noChangeAspect="1"/>
          </p:cNvPicPr>
          <p:nvPr/>
        </p:nvPicPr>
        <p:blipFill>
          <a:blip r:embed="rId7"/>
          <a:stretch>
            <a:fillRect/>
          </a:stretch>
        </p:blipFill>
        <p:spPr>
          <a:xfrm>
            <a:off x="3496410" y="2725855"/>
            <a:ext cx="8474265" cy="2225564"/>
          </a:xfrm>
          <a:prstGeom prst="rect">
            <a:avLst/>
          </a:prstGeom>
        </p:spPr>
      </p:pic>
      <p:pic>
        <p:nvPicPr>
          <p:cNvPr id="5" name="Recorded Sound">
            <a:hlinkClick r:id="" action="ppaction://media"/>
            <a:extLst>
              <a:ext uri="{FF2B5EF4-FFF2-40B4-BE49-F238E27FC236}">
                <a16:creationId xmlns:a16="http://schemas.microsoft.com/office/drawing/2014/main" id="{FA9B7EB6-51E1-24E5-5577-960B6DCAC1FE}"/>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5892800" y="3225800"/>
            <a:ext cx="406400" cy="406400"/>
          </a:xfrm>
          <a:prstGeom prst="rect">
            <a:avLst/>
          </a:prstGeom>
        </p:spPr>
      </p:pic>
    </p:spTree>
    <p:custDataLst>
      <p:tags r:id="rId1"/>
    </p:custDataLst>
    <p:extLst>
      <p:ext uri="{BB962C8B-B14F-4D97-AF65-F5344CB8AC3E}">
        <p14:creationId xmlns:p14="http://schemas.microsoft.com/office/powerpoint/2010/main" val="1036248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7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B801A9DA-14ED-DC33-79D1-D9F6F69B37D4}"/>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20A70CA2-E91F-492A-17EB-D480A1D2367B}"/>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a very large index throw an exception?</a:t>
            </a:r>
            <a:endParaRPr dirty="0"/>
          </a:p>
        </p:txBody>
      </p:sp>
      <p:sp>
        <p:nvSpPr>
          <p:cNvPr id="196" name="Google Shape;196;g9504e29505_0_0">
            <a:extLst>
              <a:ext uri="{FF2B5EF4-FFF2-40B4-BE49-F238E27FC236}">
                <a16:creationId xmlns:a16="http://schemas.microsoft.com/office/drawing/2014/main" id="{1876724D-65BC-4F92-1DD6-FD23CCAD6D20}"/>
              </a:ext>
            </a:extLst>
          </p:cNvPr>
          <p:cNvSpPr txBox="1">
            <a:spLocks noGrp="1"/>
          </p:cNvSpPr>
          <p:nvPr>
            <p:ph type="body" idx="1"/>
          </p:nvPr>
        </p:nvSpPr>
        <p:spPr>
          <a:xfrm>
            <a:off x="685800" y="2057373"/>
            <a:ext cx="2953871" cy="416138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Vulnerability:</a:t>
            </a:r>
          </a:p>
          <a:p>
            <a:pPr marL="0" lvl="0" indent="0" algn="l" rtl="0">
              <a:lnSpc>
                <a:spcPct val="90000"/>
              </a:lnSpc>
              <a:spcBef>
                <a:spcPts val="1000"/>
              </a:spcBef>
              <a:spcAft>
                <a:spcPts val="0"/>
              </a:spcAft>
              <a:buSzPts val="1800"/>
              <a:buNone/>
            </a:pPr>
            <a:r>
              <a:rPr lang="en-US" dirty="0"/>
              <a:t>STD-008</a:t>
            </a:r>
          </a:p>
          <a:p>
            <a:pPr marL="0" lvl="0" indent="0" algn="l" rtl="0">
              <a:lnSpc>
                <a:spcPct val="90000"/>
              </a:lnSpc>
              <a:spcBef>
                <a:spcPts val="1000"/>
              </a:spcBef>
              <a:spcAft>
                <a:spcPts val="0"/>
              </a:spcAft>
              <a:buSzPts val="1800"/>
              <a:buNone/>
            </a:pPr>
            <a:r>
              <a:rPr lang="en-US" dirty="0"/>
              <a:t>Container Access</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Test Type: </a:t>
            </a:r>
          </a:p>
          <a:p>
            <a:pPr marL="0" lvl="0" indent="0" algn="l" rtl="0">
              <a:lnSpc>
                <a:spcPct val="90000"/>
              </a:lnSpc>
              <a:spcBef>
                <a:spcPts val="1000"/>
              </a:spcBef>
              <a:spcAft>
                <a:spcPts val="0"/>
              </a:spcAft>
              <a:buSzPts val="1800"/>
              <a:buNone/>
            </a:pPr>
            <a:r>
              <a:rPr lang="en-US" dirty="0"/>
              <a:t>Negative Test</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Result: PASS</a:t>
            </a:r>
            <a:endParaRPr dirty="0"/>
          </a:p>
        </p:txBody>
      </p:sp>
      <p:pic>
        <p:nvPicPr>
          <p:cNvPr id="197" name="Google Shape;197;g9504e29505_0_0" descr="Green Pace logo">
            <a:extLst>
              <a:ext uri="{FF2B5EF4-FFF2-40B4-BE49-F238E27FC236}">
                <a16:creationId xmlns:a16="http://schemas.microsoft.com/office/drawing/2014/main" id="{FA669223-DD00-106F-E71C-6C14455C941B}"/>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4" name="Picture 3" descr="The image displays a snippet of a unit test code for a vector data structure, demonstrating various test cases including index bounds and error handling.&#10;&#10;AI-generated content may be incorrect.">
            <a:extLst>
              <a:ext uri="{FF2B5EF4-FFF2-40B4-BE49-F238E27FC236}">
                <a16:creationId xmlns:a16="http://schemas.microsoft.com/office/drawing/2014/main" id="{9445956A-1788-5322-5AA2-27AA0484D83F}"/>
              </a:ext>
            </a:extLst>
          </p:cNvPr>
          <p:cNvPicPr>
            <a:picLocks noChangeAspect="1"/>
          </p:cNvPicPr>
          <p:nvPr/>
        </p:nvPicPr>
        <p:blipFill>
          <a:blip r:embed="rId7"/>
          <a:stretch>
            <a:fillRect/>
          </a:stretch>
        </p:blipFill>
        <p:spPr>
          <a:xfrm>
            <a:off x="3313719" y="2262149"/>
            <a:ext cx="8518434" cy="2973601"/>
          </a:xfrm>
          <a:prstGeom prst="rect">
            <a:avLst/>
          </a:prstGeom>
        </p:spPr>
      </p:pic>
      <p:pic>
        <p:nvPicPr>
          <p:cNvPr id="5" name="Recorded Sound">
            <a:hlinkClick r:id="" action="ppaction://media"/>
            <a:extLst>
              <a:ext uri="{FF2B5EF4-FFF2-40B4-BE49-F238E27FC236}">
                <a16:creationId xmlns:a16="http://schemas.microsoft.com/office/drawing/2014/main" id="{2647F3B1-1380-3100-515F-8139ABDA8A27}"/>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5892800" y="3225800"/>
            <a:ext cx="406400" cy="406400"/>
          </a:xfrm>
          <a:prstGeom prst="rect">
            <a:avLst/>
          </a:prstGeom>
        </p:spPr>
      </p:pic>
    </p:spTree>
    <p:custDataLst>
      <p:tags r:id="rId1"/>
    </p:custDataLst>
    <p:extLst>
      <p:ext uri="{BB962C8B-B14F-4D97-AF65-F5344CB8AC3E}">
        <p14:creationId xmlns:p14="http://schemas.microsoft.com/office/powerpoint/2010/main" val="3626549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689"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6">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2" name="Recorded Sound">
            <a:hlinkClick r:id="" action="ppaction://media"/>
            <a:extLst>
              <a:ext uri="{FF2B5EF4-FFF2-40B4-BE49-F238E27FC236}">
                <a16:creationId xmlns:a16="http://schemas.microsoft.com/office/drawing/2014/main" id="{CBEAD3C2-E339-4D3C-0381-1195866CDEA6}"/>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411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b="1" dirty="0"/>
              <a:t>Tools</a:t>
            </a:r>
          </a:p>
          <a:p>
            <a:pPr lvl="0"/>
            <a:r>
              <a:rPr lang="en-US" b="1" dirty="0" err="1"/>
              <a:t>Cppcheck</a:t>
            </a:r>
            <a:r>
              <a:rPr lang="en-US" dirty="0"/>
              <a:t> — Build / Verify &amp; Test — static code analysis</a:t>
            </a:r>
          </a:p>
          <a:p>
            <a:pPr lvl="0"/>
            <a:r>
              <a:rPr lang="en-US" b="1" dirty="0" err="1"/>
              <a:t>Parasoft</a:t>
            </a:r>
            <a:r>
              <a:rPr lang="en-US" b="1" dirty="0"/>
              <a:t> C/C++test</a:t>
            </a:r>
            <a:r>
              <a:rPr lang="en-US" dirty="0"/>
              <a:t> — Build / Verify &amp; Test — checks CERT coding standards</a:t>
            </a:r>
          </a:p>
          <a:p>
            <a:pPr lvl="0"/>
            <a:r>
              <a:rPr lang="en-US" b="1" dirty="0"/>
              <a:t>Clang Static Analyzer</a:t>
            </a:r>
            <a:r>
              <a:rPr lang="en-US" dirty="0"/>
              <a:t> — Verify &amp; Test — detects memory problems</a:t>
            </a:r>
          </a:p>
          <a:p>
            <a:pPr lvl="0"/>
            <a:r>
              <a:rPr lang="en-US" b="1" dirty="0"/>
              <a:t>Google Test</a:t>
            </a:r>
            <a:r>
              <a:rPr lang="en-US" dirty="0"/>
              <a:t> — Verify &amp; Test — automated unit testing</a:t>
            </a:r>
          </a:p>
          <a:p>
            <a:pPr lvl="0"/>
            <a:r>
              <a:rPr lang="en-US" b="1" dirty="0"/>
              <a:t>LDAP / Active Directory</a:t>
            </a:r>
            <a:r>
              <a:rPr lang="en-US" dirty="0"/>
              <a:t> — Production — centralized authentication and access control</a:t>
            </a:r>
          </a:p>
        </p:txBody>
      </p:sp>
      <p:pic>
        <p:nvPicPr>
          <p:cNvPr id="211" name="Google Shape;211;p1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Recorded Sound">
            <a:hlinkClick r:id="" action="ppaction://media"/>
            <a:extLst>
              <a:ext uri="{FF2B5EF4-FFF2-40B4-BE49-F238E27FC236}">
                <a16:creationId xmlns:a16="http://schemas.microsoft.com/office/drawing/2014/main" id="{4BF09CBF-96D1-C442-F5B8-441CE308D32E}"/>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508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916774" y="430172"/>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RISKS AND BENEFITS</a:t>
            </a:r>
            <a:endParaRPr dirty="0"/>
          </a:p>
        </p:txBody>
      </p:sp>
      <p:sp>
        <p:nvSpPr>
          <p:cNvPr id="217" name="Google Shape;217;p11"/>
          <p:cNvSpPr txBox="1">
            <a:spLocks noGrp="1"/>
          </p:cNvSpPr>
          <p:nvPr>
            <p:ph type="body" idx="1"/>
          </p:nvPr>
        </p:nvSpPr>
        <p:spPr>
          <a:xfrm>
            <a:off x="1044389" y="1765306"/>
            <a:ext cx="5571565" cy="3245966"/>
          </a:xfrm>
          <a:prstGeom prst="rect">
            <a:avLst/>
          </a:prstGeom>
          <a:noFill/>
          <a:ln>
            <a:noFill/>
          </a:ln>
        </p:spPr>
        <p:txBody>
          <a:bodyPr spcFirstLastPara="1" wrap="square" lIns="91425" tIns="45700" rIns="91425" bIns="45700" anchor="t" anchorCtr="0">
            <a:normAutofit lnSpcReduction="10000"/>
          </a:bodyPr>
          <a:lstStyle/>
          <a:p>
            <a:pPr marL="114300" indent="0">
              <a:buNone/>
            </a:pPr>
            <a:r>
              <a:rPr lang="en-US" b="1" dirty="0"/>
              <a:t>Act Now</a:t>
            </a:r>
          </a:p>
          <a:p>
            <a:pPr lvl="0"/>
            <a:r>
              <a:rPr lang="en-US" dirty="0"/>
              <a:t>Find vulnerabilities earlier</a:t>
            </a:r>
          </a:p>
          <a:p>
            <a:pPr lvl="0"/>
            <a:r>
              <a:rPr lang="en-US" dirty="0"/>
              <a:t>Reduce the chance of larger security incidents</a:t>
            </a:r>
          </a:p>
          <a:p>
            <a:pPr lvl="0"/>
            <a:r>
              <a:rPr lang="en-US" dirty="0"/>
              <a:t>Make fixes cheaper and easier</a:t>
            </a:r>
          </a:p>
          <a:p>
            <a:pPr lvl="0"/>
            <a:r>
              <a:rPr lang="en-US" dirty="0"/>
              <a:t>Build security into normal development</a:t>
            </a:r>
          </a:p>
          <a:p>
            <a:pPr lvl="0"/>
            <a:r>
              <a:rPr lang="en-US" dirty="0"/>
              <a:t>Improve consistency across projects</a:t>
            </a:r>
          </a:p>
          <a:p>
            <a:pPr marL="228600" lvl="0" indent="-228600" algn="l" rtl="0">
              <a:lnSpc>
                <a:spcPct val="90000"/>
              </a:lnSpc>
              <a:spcBef>
                <a:spcPts val="0"/>
              </a:spcBef>
              <a:spcAft>
                <a:spcPts val="0"/>
              </a:spcAft>
              <a:buClr>
                <a:schemeClr val="lt1"/>
              </a:buClr>
              <a:buSzPts val="2000"/>
              <a:buChar char="•"/>
            </a:pPr>
            <a:endParaRPr dirty="0"/>
          </a:p>
        </p:txBody>
      </p:sp>
      <p:pic>
        <p:nvPicPr>
          <p:cNvPr id="218" name="Google Shape;218;p11"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0B22A4D4-F74D-918C-05C6-29D039C111A4}"/>
              </a:ext>
            </a:extLst>
          </p:cNvPr>
          <p:cNvSpPr txBox="1"/>
          <p:nvPr/>
        </p:nvSpPr>
        <p:spPr>
          <a:xfrm>
            <a:off x="6615954" y="1664617"/>
            <a:ext cx="5051611" cy="4370427"/>
          </a:xfrm>
          <a:prstGeom prst="rect">
            <a:avLst/>
          </a:prstGeom>
          <a:noFill/>
        </p:spPr>
        <p:txBody>
          <a:bodyPr wrap="square" rtlCol="0">
            <a:spAutoFit/>
          </a:bodyPr>
          <a:lstStyle/>
          <a:p>
            <a:r>
              <a:rPr lang="en-US" sz="2200" b="1" dirty="0">
                <a:solidFill>
                  <a:schemeClr val="bg1"/>
                </a:solidFill>
                <a:latin typeface="Century Gothic" panose="020B0502020202020204" pitchFamily="34" charset="0"/>
              </a:rPr>
              <a:t>Wait</a:t>
            </a:r>
          </a:p>
          <a:p>
            <a:pPr marL="342900" lvl="0" indent="-342900">
              <a:buClr>
                <a:schemeClr val="bg1"/>
              </a:buClr>
              <a:buFont typeface="Arial" panose="020B0604020202020204" pitchFamily="34" charset="0"/>
              <a:buChar char="•"/>
            </a:pPr>
            <a:r>
              <a:rPr lang="en-US" sz="2200" dirty="0">
                <a:solidFill>
                  <a:schemeClr val="bg1"/>
                </a:solidFill>
                <a:latin typeface="Century Gothic" panose="020B0502020202020204" pitchFamily="34" charset="0"/>
              </a:rPr>
              <a:t>Vulnerabilities may reach production</a:t>
            </a:r>
          </a:p>
          <a:p>
            <a:pPr marL="342900" lvl="0" indent="-342900">
              <a:buClr>
                <a:schemeClr val="bg1"/>
              </a:buClr>
              <a:buFont typeface="Arial" panose="020B0604020202020204" pitchFamily="34" charset="0"/>
              <a:buChar char="•"/>
            </a:pPr>
            <a:r>
              <a:rPr lang="en-US" sz="2200" dirty="0">
                <a:solidFill>
                  <a:schemeClr val="bg1"/>
                </a:solidFill>
                <a:latin typeface="Century Gothic" panose="020B0502020202020204" pitchFamily="34" charset="0"/>
              </a:rPr>
              <a:t>Fixes can become more expensive</a:t>
            </a:r>
          </a:p>
          <a:p>
            <a:pPr marL="342900" lvl="0" indent="-342900">
              <a:buClr>
                <a:schemeClr val="bg1"/>
              </a:buClr>
              <a:buFont typeface="Arial" panose="020B0604020202020204" pitchFamily="34" charset="0"/>
              <a:buChar char="•"/>
            </a:pPr>
            <a:r>
              <a:rPr lang="en-US" sz="2200" dirty="0">
                <a:solidFill>
                  <a:schemeClr val="bg1"/>
                </a:solidFill>
                <a:latin typeface="Century Gothic" panose="020B0502020202020204" pitchFamily="34" charset="0"/>
              </a:rPr>
              <a:t>Security gaps may affect more users or systems</a:t>
            </a:r>
          </a:p>
          <a:p>
            <a:pPr marL="342900" lvl="0" indent="-342900">
              <a:buClr>
                <a:schemeClr val="bg1"/>
              </a:buClr>
              <a:buFont typeface="Arial" panose="020B0604020202020204" pitchFamily="34" charset="0"/>
              <a:buChar char="•"/>
            </a:pPr>
            <a:r>
              <a:rPr lang="en-US" sz="2200" dirty="0">
                <a:solidFill>
                  <a:schemeClr val="bg1"/>
                </a:solidFill>
                <a:latin typeface="Century Gothic" panose="020B0502020202020204" pitchFamily="34" charset="0"/>
              </a:rPr>
              <a:t>Greater risk of data loss, downtime, or unauthorized access</a:t>
            </a:r>
          </a:p>
          <a:p>
            <a:pPr marL="342900" lvl="0" indent="-342900">
              <a:buClr>
                <a:schemeClr val="bg1"/>
              </a:buClr>
              <a:buFont typeface="Arial" panose="020B0604020202020204" pitchFamily="34" charset="0"/>
              <a:buChar char="•"/>
            </a:pPr>
            <a:r>
              <a:rPr lang="en-US" sz="2200" dirty="0">
                <a:solidFill>
                  <a:schemeClr val="bg1"/>
                </a:solidFill>
                <a:latin typeface="Century Gothic" panose="020B0502020202020204" pitchFamily="34" charset="0"/>
              </a:rPr>
              <a:t>More dependence on reacting after an incident</a:t>
            </a:r>
          </a:p>
          <a:p>
            <a:endParaRPr lang="en-US" dirty="0"/>
          </a:p>
        </p:txBody>
      </p:sp>
      <p:sp>
        <p:nvSpPr>
          <p:cNvPr id="3" name="TextBox 2">
            <a:extLst>
              <a:ext uri="{FF2B5EF4-FFF2-40B4-BE49-F238E27FC236}">
                <a16:creationId xmlns:a16="http://schemas.microsoft.com/office/drawing/2014/main" id="{D31525F2-813F-0812-BDD7-E1513B44FCDE}"/>
              </a:ext>
            </a:extLst>
          </p:cNvPr>
          <p:cNvSpPr txBox="1"/>
          <p:nvPr/>
        </p:nvSpPr>
        <p:spPr>
          <a:xfrm>
            <a:off x="524435" y="5224576"/>
            <a:ext cx="5547461" cy="1446550"/>
          </a:xfrm>
          <a:prstGeom prst="rect">
            <a:avLst/>
          </a:prstGeom>
          <a:noFill/>
        </p:spPr>
        <p:txBody>
          <a:bodyPr wrap="square" rtlCol="0">
            <a:spAutoFit/>
          </a:bodyPr>
          <a:lstStyle/>
          <a:p>
            <a:r>
              <a:rPr lang="en-US" sz="2200" b="1" dirty="0">
                <a:solidFill>
                  <a:schemeClr val="bg1"/>
                </a:solidFill>
                <a:latin typeface="Century Gothic" panose="020B0502020202020204" pitchFamily="34" charset="0"/>
              </a:rPr>
              <a:t>Remaining risk:</a:t>
            </a:r>
            <a:r>
              <a:rPr lang="en-US" sz="2200" dirty="0">
                <a:solidFill>
                  <a:schemeClr val="bg1"/>
                </a:solidFill>
                <a:latin typeface="Century Gothic" panose="020B0502020202020204" pitchFamily="34" charset="0"/>
              </a:rPr>
              <a:t> Automation and testing reduce risk, but they cannot catch every vulnerability. Security controls still need regular review and updates.</a:t>
            </a:r>
          </a:p>
        </p:txBody>
      </p:sp>
      <p:pic>
        <p:nvPicPr>
          <p:cNvPr id="4" name="Recorded Sound">
            <a:hlinkClick r:id="" action="ppaction://media"/>
            <a:extLst>
              <a:ext uri="{FF2B5EF4-FFF2-40B4-BE49-F238E27FC236}">
                <a16:creationId xmlns:a16="http://schemas.microsoft.com/office/drawing/2014/main" id="{953CC454-824B-527C-A770-080D2F186F54}"/>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485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706974" y="2259619"/>
            <a:ext cx="10820400" cy="4024125"/>
          </a:xfrm>
          <a:prstGeom prst="rect">
            <a:avLst/>
          </a:prstGeom>
          <a:noFill/>
          <a:ln>
            <a:noFill/>
          </a:ln>
        </p:spPr>
        <p:txBody>
          <a:bodyPr spcFirstLastPara="1" wrap="square" lIns="91425" tIns="45700" rIns="91425" bIns="45700" anchor="t" anchorCtr="0">
            <a:normAutofit/>
          </a:bodyPr>
          <a:lstStyle/>
          <a:p>
            <a:pPr lvl="0"/>
            <a:r>
              <a:rPr lang="en-US" dirty="0"/>
              <a:t>Replace broad guidance with specific, enforceable requirements</a:t>
            </a:r>
          </a:p>
          <a:p>
            <a:pPr lvl="0"/>
            <a:r>
              <a:rPr lang="en-US" dirty="0"/>
              <a:t>Require </a:t>
            </a:r>
            <a:r>
              <a:rPr lang="en-US" b="1" dirty="0"/>
              <a:t>TLS 1.3+</a:t>
            </a:r>
            <a:r>
              <a:rPr lang="en-US" dirty="0"/>
              <a:t> for data in flight</a:t>
            </a:r>
          </a:p>
          <a:p>
            <a:pPr lvl="0"/>
            <a:r>
              <a:rPr lang="en-US" dirty="0"/>
              <a:t>Require </a:t>
            </a:r>
            <a:r>
              <a:rPr lang="en-US" b="1" dirty="0"/>
              <a:t>AES-256+</a:t>
            </a:r>
            <a:r>
              <a:rPr lang="en-US" dirty="0"/>
              <a:t> for sensitive data at rest</a:t>
            </a:r>
          </a:p>
          <a:p>
            <a:pPr lvl="0"/>
            <a:r>
              <a:rPr lang="en-US" dirty="0"/>
              <a:t>Use </a:t>
            </a:r>
            <a:r>
              <a:rPr lang="en-US" b="1" dirty="0"/>
              <a:t>RBAC and least privilege</a:t>
            </a:r>
            <a:r>
              <a:rPr lang="en-US" dirty="0"/>
              <a:t> for authorization</a:t>
            </a:r>
          </a:p>
          <a:p>
            <a:pPr lvl="0"/>
            <a:r>
              <a:rPr lang="en-US" dirty="0"/>
              <a:t>Add multiple automated security tools throughout </a:t>
            </a:r>
            <a:r>
              <a:rPr lang="en-US" dirty="0" err="1"/>
              <a:t>DevSecOps</a:t>
            </a:r>
            <a:endParaRPr lang="en-US" dirty="0"/>
          </a:p>
          <a:p>
            <a:pPr lvl="0"/>
            <a:r>
              <a:rPr lang="en-US" dirty="0"/>
              <a:t>Review and update security standards as threats and tools change</a:t>
            </a:r>
          </a:p>
        </p:txBody>
      </p:sp>
      <p:pic>
        <p:nvPicPr>
          <p:cNvPr id="225" name="Google Shape;225;p12"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 name="Recorded Sound">
            <a:hlinkClick r:id="" action="ppaction://media"/>
            <a:extLst>
              <a:ext uri="{FF2B5EF4-FFF2-40B4-BE49-F238E27FC236}">
                <a16:creationId xmlns:a16="http://schemas.microsoft.com/office/drawing/2014/main" id="{5C777082-FFFF-3D62-E7C1-06745FE9FC8B}"/>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59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lvl="0"/>
            <a:r>
              <a:rPr lang="en-US" dirty="0"/>
              <a:t>Adopt secure coding standards across all development</a:t>
            </a:r>
          </a:p>
          <a:p>
            <a:pPr lvl="0"/>
            <a:r>
              <a:rPr lang="en-US" dirty="0"/>
              <a:t>Require MFA and stronger access controls</a:t>
            </a:r>
          </a:p>
          <a:p>
            <a:pPr lvl="0"/>
            <a:r>
              <a:rPr lang="en-US" dirty="0"/>
              <a:t>Use RBAC and least privilege</a:t>
            </a:r>
          </a:p>
          <a:p>
            <a:pPr lvl="0"/>
            <a:r>
              <a:rPr lang="en-US" dirty="0"/>
              <a:t>Continue automated testing, static analysis, and monitoring</a:t>
            </a:r>
          </a:p>
          <a:p>
            <a:pPr lvl="0"/>
            <a:r>
              <a:rPr lang="en-US" dirty="0"/>
              <a:t>Review security policies regularly</a:t>
            </a:r>
          </a:p>
          <a:p>
            <a:pPr lvl="0"/>
            <a:r>
              <a:rPr lang="en-US" b="1" dirty="0"/>
              <a:t>23andMe shows how one weakness can lead to much wider exposure</a:t>
            </a:r>
            <a:endParaRPr lang="en-US" dirty="0"/>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Recorded Sound">
            <a:hlinkClick r:id="" action="ppaction://media"/>
            <a:extLst>
              <a:ext uri="{FF2B5EF4-FFF2-40B4-BE49-F238E27FC236}">
                <a16:creationId xmlns:a16="http://schemas.microsoft.com/office/drawing/2014/main" id="{14275BC8-8D41-5B20-B1AB-56A3BC7B1891}"/>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905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10000"/>
          </a:bodyPr>
          <a:lstStyle/>
          <a:p>
            <a:r>
              <a:rPr lang="en-US" dirty="0"/>
              <a:t>Carnegie Mellon University Software Engineering Institute. (n.d.). </a:t>
            </a:r>
            <a:r>
              <a:rPr lang="en-US" i="1" dirty="0"/>
              <a:t>SEI CERT C coding standard</a:t>
            </a:r>
            <a:r>
              <a:rPr lang="en-US" dirty="0"/>
              <a:t>. </a:t>
            </a:r>
            <a:r>
              <a:rPr lang="en-US" dirty="0">
                <a:hlinkClick r:id="rId6"/>
              </a:rPr>
              <a:t>https://cmu-sei.github.io/secure-coding-standards/sei-cert-c-coding-standard/</a:t>
            </a:r>
            <a:endParaRPr lang="en-US" dirty="0"/>
          </a:p>
          <a:p>
            <a:r>
              <a:rPr lang="en-US" dirty="0"/>
              <a:t>Carnegie Mellon University Software Engineering Institute. (n.d.). </a:t>
            </a:r>
            <a:r>
              <a:rPr lang="en-US" i="1" dirty="0"/>
              <a:t>SEI CERT C++ coding standard</a:t>
            </a:r>
            <a:r>
              <a:rPr lang="en-US" dirty="0"/>
              <a:t>. </a:t>
            </a:r>
            <a:r>
              <a:rPr lang="en-US" dirty="0">
                <a:hlinkClick r:id="rId7"/>
              </a:rPr>
              <a:t>https://cmu-sei.github.io/secure-coding-standards/sei-cert-cpp-coding-standard/</a:t>
            </a:r>
            <a:endParaRPr lang="en-US" dirty="0"/>
          </a:p>
          <a:p>
            <a:r>
              <a:rPr lang="en-US" dirty="0"/>
              <a:t>Franceschi-</a:t>
            </a:r>
            <a:r>
              <a:rPr lang="en-US" dirty="0" err="1"/>
              <a:t>Bicchierai</a:t>
            </a:r>
            <a:r>
              <a:rPr lang="en-US" dirty="0"/>
              <a:t>, L. (2023, December 4). </a:t>
            </a:r>
            <a:r>
              <a:rPr lang="en-US" i="1" dirty="0"/>
              <a:t>23andMe confirms hackers stole ancestry data on 6.9 million users</a:t>
            </a:r>
            <a:r>
              <a:rPr lang="en-US" dirty="0"/>
              <a:t>. TechCrunch. </a:t>
            </a:r>
            <a:r>
              <a:rPr lang="en-US" dirty="0">
                <a:hlinkClick r:id="rId8"/>
              </a:rPr>
              <a:t>https://techcrunch.com/2023/12/04/23andme-confirms-hackers-stole-ancestry-data-on-6-9-million-users/</a:t>
            </a:r>
            <a:endParaRPr lang="en-US" dirty="0"/>
          </a:p>
          <a:p>
            <a:r>
              <a:rPr lang="en-US" dirty="0"/>
              <a:t>Franceschi-</a:t>
            </a:r>
            <a:r>
              <a:rPr lang="en-US" dirty="0" err="1"/>
              <a:t>Bicchierai</a:t>
            </a:r>
            <a:r>
              <a:rPr lang="en-US" dirty="0"/>
              <a:t>, L., &amp; Whittaker, Z. (2023, December 1). </a:t>
            </a:r>
            <a:r>
              <a:rPr lang="en-US" i="1" dirty="0"/>
              <a:t>23andMe says hackers accessed ‘significant number’ of files about users’ ancestry</a:t>
            </a:r>
            <a:r>
              <a:rPr lang="en-US" dirty="0"/>
              <a:t>. TechCrunch. </a:t>
            </a:r>
            <a:r>
              <a:rPr lang="en-US" dirty="0">
                <a:hlinkClick r:id="rId9"/>
              </a:rPr>
              <a:t>https://techcrunch.com/2023/12/01/23andme-says-hackers-accessed-significant-number-of-files-about-users-ancestry/</a:t>
            </a:r>
            <a:r>
              <a:rPr lang="en-US" dirty="0"/>
              <a:t> </a:t>
            </a:r>
          </a:p>
        </p:txBody>
      </p:sp>
      <p:pic>
        <p:nvPicPr>
          <p:cNvPr id="239" name="Google Shape;239;p14" descr="Green Pace logo"/>
          <p:cNvPicPr preferRelativeResize="0"/>
          <p:nvPr/>
        </p:nvPicPr>
        <p:blipFill>
          <a:blip r:embed="rId10">
            <a:alphaModFix/>
          </a:blip>
          <a:stretch>
            <a:fillRect/>
          </a:stretch>
        </p:blipFill>
        <p:spPr>
          <a:xfrm>
            <a:off x="11084074" y="5440526"/>
            <a:ext cx="886601" cy="1149225"/>
          </a:xfrm>
          <a:prstGeom prst="rect">
            <a:avLst/>
          </a:prstGeom>
          <a:noFill/>
          <a:ln>
            <a:noFill/>
          </a:ln>
        </p:spPr>
      </p:pic>
      <p:pic>
        <p:nvPicPr>
          <p:cNvPr id="2" name="Recorded Sound">
            <a:hlinkClick r:id="" action="ppaction://media"/>
            <a:extLst>
              <a:ext uri="{FF2B5EF4-FFF2-40B4-BE49-F238E27FC236}">
                <a16:creationId xmlns:a16="http://schemas.microsoft.com/office/drawing/2014/main" id="{25C2B8B6-5261-1142-A0B4-62CBE325FA3D}"/>
              </a:ext>
            </a:extLst>
          </p:cNvPr>
          <p:cNvPicPr>
            <a:picLocks noChangeAspect="1"/>
          </p:cNvPicPr>
          <p:nvPr>
            <a:audioFile r:link="rId3"/>
            <p:extLst>
              <p:ext uri="{DAA4B4D4-6D71-4841-9C94-3DE7FCFB9230}">
                <p14:media xmlns:p14="http://schemas.microsoft.com/office/powerpoint/2010/main" r:embed="rId2"/>
              </p:ext>
            </p:extLst>
          </p:nvPr>
        </p:nvPicPr>
        <p:blipFill>
          <a:blip r:embed="rId11"/>
          <a:stretch>
            <a:fillRect/>
          </a:stretch>
        </p:blipFill>
        <p:spPr>
          <a:xfrm>
            <a:off x="5892800" y="3225800"/>
            <a:ext cx="406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57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3978</TotalTime>
  <Words>982</Words>
  <Application>Microsoft Office PowerPoint</Application>
  <PresentationFormat>Widescreen</PresentationFormat>
  <Paragraphs>149</Paragraphs>
  <Slides>18</Slides>
  <Notes>18</Notes>
  <HiddenSlides>0</HiddenSlides>
  <MMClips>18</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Does a valid first index return the correct value?</vt:lpstr>
      <vt:lpstr>Does a valid last index return the correct value?</vt:lpstr>
      <vt:lpstr>Does an index equal to the vector size throw an exception?</vt:lpstr>
      <vt:lpstr>Does a negative index throw an exception?</vt:lpstr>
      <vt:lpstr>Does a very large index throw an exception?</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Andrew Fisher</cp:lastModifiedBy>
  <cp:revision>5</cp:revision>
  <dcterms:created xsi:type="dcterms:W3CDTF">2020-08-19T17:59:24Z</dcterms:created>
  <dcterms:modified xsi:type="dcterms:W3CDTF">2026-10-18T15:24:33Z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